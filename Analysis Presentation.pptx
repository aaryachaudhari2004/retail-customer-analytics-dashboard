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Instrument Sans"/>
      <p:regular r:id="rId201314"/>
    </p:embeddedFont>
    <p:embeddedFont>
      <p:font typeface="Instrument Sans Medium"/>
      <p:regular r:id="rId201315"/>
    </p:embeddedFont>
    <p:embeddedFont>
      <p:font typeface="Instrument Sans SemiBold"/>
      <p:regular r:id="rId201316"/>
    </p:embeddedFont>
    <p:embeddedFont>
      <p:font typeface="Instrument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03614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500908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 Analytics Project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5233360" y="441473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 end-to-end analysis of retail purchase behavior using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Python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SQL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Power BI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uncovering spending patterns, customer segments, and strategic opportunities across 3,900 transactions.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5534620"/>
            <a:ext cx="865265" cy="287139"/>
          </a:xfrm>
          <a:prstGeom prst="roundRect">
            <a:avLst>
              <a:gd name="adj" fmla="val 47396"/>
            </a:avLst>
          </a:prstGeom>
          <a:solidFill>
            <a:srgbClr val="CEE6FD"/>
          </a:solidFill>
          <a:ln/>
        </p:spPr>
      </p:sp>
      <p:sp>
        <p:nvSpPr>
          <p:cNvPr id="7" name="Text 4"/>
          <p:cNvSpPr/>
          <p:nvPr/>
        </p:nvSpPr>
        <p:spPr>
          <a:xfrm>
            <a:off x="5346765" y="5591274"/>
            <a:ext cx="124804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PYTHON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93079" y="5534620"/>
            <a:ext cx="530311" cy="287139"/>
          </a:xfrm>
          <a:prstGeom prst="roundRect">
            <a:avLst>
              <a:gd name="adj" fmla="val 47396"/>
            </a:avLst>
          </a:prstGeom>
          <a:solidFill>
            <a:srgbClr val="CEE6FD"/>
          </a:solidFill>
          <a:ln/>
        </p:spPr>
      </p:sp>
      <p:sp>
        <p:nvSpPr>
          <p:cNvPr id="9" name="Text 6"/>
          <p:cNvSpPr/>
          <p:nvPr/>
        </p:nvSpPr>
        <p:spPr>
          <a:xfrm>
            <a:off x="6306484" y="5591274"/>
            <a:ext cx="91308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17844" y="5534620"/>
            <a:ext cx="960513" cy="287139"/>
          </a:xfrm>
          <a:prstGeom prst="roundRect">
            <a:avLst>
              <a:gd name="adj" fmla="val 47396"/>
            </a:avLst>
          </a:prstGeom>
          <a:solidFill>
            <a:srgbClr val="CEE6FD"/>
          </a:solidFill>
          <a:ln/>
        </p:spPr>
      </p:sp>
      <p:sp>
        <p:nvSpPr>
          <p:cNvPr id="11" name="Text 8"/>
          <p:cNvSpPr/>
          <p:nvPr/>
        </p:nvSpPr>
        <p:spPr>
          <a:xfrm>
            <a:off x="6931248" y="5591274"/>
            <a:ext cx="134328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POWER BI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872811" y="5534620"/>
            <a:ext cx="1850582" cy="287139"/>
          </a:xfrm>
          <a:prstGeom prst="roundRect">
            <a:avLst>
              <a:gd name="adj" fmla="val 47396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86215" y="5591274"/>
            <a:ext cx="223335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3,900 TRANSACTIONS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087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Dataset &amp; Project Overview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7955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Transactional retail data spanning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3,900 rows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18 columns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demographics, purchase details, and shopping behavior — with 37 missing Review Rating values imputed by category median.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097014"/>
            <a:ext cx="3496877" cy="2450009"/>
          </a:xfrm>
          <a:prstGeom prst="roundRect">
            <a:avLst>
              <a:gd name="adj" fmla="val 6944"/>
            </a:avLst>
          </a:prstGeom>
          <a:solidFill>
            <a:srgbClr val="CEE6FD"/>
          </a:solidFill>
          <a:ln/>
        </p:spPr>
      </p:sp>
      <p:sp>
        <p:nvSpPr>
          <p:cNvPr id="5" name="Shape 3"/>
          <p:cNvSpPr/>
          <p:nvPr/>
        </p:nvSpPr>
        <p:spPr>
          <a:xfrm>
            <a:off x="850482" y="3286026"/>
            <a:ext cx="567021" cy="567035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450" y="3441898"/>
            <a:ext cx="255085" cy="2550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482" y="4042073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Objective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0482" y="4450755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Analyze spending patterns, segments, product preferences, and subscription behavior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47359" y="3097014"/>
            <a:ext cx="3496877" cy="2450009"/>
          </a:xfrm>
          <a:prstGeom prst="roundRect">
            <a:avLst>
              <a:gd name="adj" fmla="val 6944"/>
            </a:avLst>
          </a:prstGeom>
          <a:solidFill>
            <a:srgbClr val="CEE6FD"/>
          </a:solidFill>
          <a:ln/>
        </p:spPr>
      </p:sp>
      <p:sp>
        <p:nvSpPr>
          <p:cNvPr id="10" name="Shape 7"/>
          <p:cNvSpPr/>
          <p:nvPr/>
        </p:nvSpPr>
        <p:spPr>
          <a:xfrm>
            <a:off x="4536366" y="3286026"/>
            <a:ext cx="567021" cy="567035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2334" y="3441898"/>
            <a:ext cx="255085" cy="2550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6366" y="4042073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Business Problem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4536366" y="4450755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Identify which segments and products drive revenue and how discounts affect behavior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033244" y="3097014"/>
            <a:ext cx="3496877" cy="2450009"/>
          </a:xfrm>
          <a:prstGeom prst="roundRect">
            <a:avLst>
              <a:gd name="adj" fmla="val 6944"/>
            </a:avLst>
          </a:prstGeom>
          <a:solidFill>
            <a:srgbClr val="CEE6FD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2251" y="3286026"/>
            <a:ext cx="567021" cy="567035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8219" y="3441898"/>
            <a:ext cx="255085" cy="2550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2251" y="4042073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Expected Outcome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8222251" y="4450755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Actionable recommendations on subscriptions, loyalty, discounting, and targeted marketing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636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Findings from SQL Analysis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16248"/>
            <a:ext cx="4199924" cy="30231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6640" y="1401167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Revenue by Gender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286640" y="1758355"/>
            <a:ext cx="524993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Male customers generated over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2× the revenue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of female customers — a significant behavioral gap warranting targeted outreach.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711502"/>
            <a:ext cx="3542219" cy="15200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7928" y="4881761"/>
            <a:ext cx="31255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Subscribers vs. Non-Subscribers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907928" y="5190530"/>
            <a:ext cx="3125511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Non-subscribers drive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$170,436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 revenue (2,847 customers) vs. subscribers'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$62,645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(1,053 customers), despite similar average spend.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4639" y="4711502"/>
            <a:ext cx="3542318" cy="15200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1092" y="4881761"/>
            <a:ext cx="312561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Customer Segments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4571092" y="5190530"/>
            <a:ext cx="312561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Loyal: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3,116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| Returning: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701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| New: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83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Repeat buyers: 958 subscribed vs. 2,518 non-subscribed.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7902" y="4711502"/>
            <a:ext cx="3542318" cy="15200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34355" y="4881761"/>
            <a:ext cx="312561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Revenue by Age Group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8234355" y="5190530"/>
            <a:ext cx="312561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Young Adult leads at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$62,143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followed by Middle-aged ($59,197), Adult ($55,978), and Senior ($55,763).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2823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Product Performance &amp; Customer Preferences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226443"/>
            <a:ext cx="10868745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Understanding which products resonate most with customers, their perceived value, and how often they are purchased provides critical insights for inventory, marketing, and product development strategies.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30276"/>
            <a:ext cx="5284556" cy="39589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5778996"/>
            <a:ext cx="5284556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column chart highlights our top 5 revenue-generating products, with Wireless Earbuds leading significantly. This data informs promotional focus and stock management.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2014" y="1730276"/>
            <a:ext cx="5284556" cy="8416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74844" y="1853109"/>
            <a:ext cx="503889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Ratings Impact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374844" y="2124869"/>
            <a:ext cx="5038897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Products with an average rating of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4.5 stars or higher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demonstrate a 30% increase in repeat purchases.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2014" y="2651720"/>
            <a:ext cx="5284556" cy="8416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74844" y="2774553"/>
            <a:ext cx="503889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Purchase Frequency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374844" y="3046313"/>
            <a:ext cx="5038897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High-demand consumables show a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2x higher weekly purchase frequency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compared to durable goods.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2014" y="3573165"/>
            <a:ext cx="5284556" cy="8416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74844" y="3695998"/>
            <a:ext cx="503889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Category Insights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74844" y="3967758"/>
            <a:ext cx="5038897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Electronics category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drives the highest average transaction value, while Home Goods leads in repeat buys.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237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Business Recommendations &amp; Skills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40173"/>
            <a:ext cx="425241" cy="4252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156718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Boost Subscriptions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61475" y="2514203"/>
            <a:ext cx="349538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Promote exclusive subscriber benefits to convert high-value non-subscribers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8153" y="1540173"/>
            <a:ext cx="425241" cy="4252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8153" y="2156718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Loyalty Programs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348153" y="2514203"/>
            <a:ext cx="349538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Reward repeat buyers to grow the Loyal segment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4831" y="1540173"/>
            <a:ext cx="425241" cy="4252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34831" y="2156718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Review Discount Policy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8034831" y="2514203"/>
            <a:ext cx="349538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Balance sales lift with margin control, especially for discount-dependent products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337520"/>
            <a:ext cx="425241" cy="4252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3954066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Product Positioning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61475" y="4311551"/>
            <a:ext cx="349538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Highlight top-rated products — Gloves, Sandals, Boots — in campaigns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8153" y="3337520"/>
            <a:ext cx="425241" cy="42525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48153" y="3954066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Targeted Marketing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4348153" y="4311551"/>
            <a:ext cx="349538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 on Young Adults and express-shipping users for highest ROI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61475" y="5058271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Skills Demonstrated</a:t>
            </a:r>
            <a:endParaRPr lang="en-US" sz="1650" dirty="0"/>
          </a:p>
        </p:txBody>
      </p:sp>
      <p:sp>
        <p:nvSpPr>
          <p:cNvPr id="19" name="Shape 12"/>
          <p:cNvSpPr/>
          <p:nvPr/>
        </p:nvSpPr>
        <p:spPr>
          <a:xfrm>
            <a:off x="661475" y="5553571"/>
            <a:ext cx="778748" cy="258465"/>
          </a:xfrm>
          <a:prstGeom prst="roundRect">
            <a:avLst>
              <a:gd name="adj" fmla="val 47389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763469" y="5604570"/>
            <a:ext cx="1184345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PYTHON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1525252" y="5553571"/>
            <a:ext cx="758310" cy="258465"/>
          </a:xfrm>
          <a:prstGeom prst="roundRect">
            <a:avLst>
              <a:gd name="adj" fmla="val 47389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1627246" y="5604570"/>
            <a:ext cx="1163906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PANDAS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2368590" y="5553571"/>
            <a:ext cx="701657" cy="258465"/>
          </a:xfrm>
          <a:prstGeom prst="roundRect">
            <a:avLst>
              <a:gd name="adj" fmla="val 47389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2470584" y="5604570"/>
            <a:ext cx="1107254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NUMPY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3155276" y="5553571"/>
            <a:ext cx="477131" cy="258465"/>
          </a:xfrm>
          <a:prstGeom prst="roundRect">
            <a:avLst>
              <a:gd name="adj" fmla="val 47389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3257270" y="5604570"/>
            <a:ext cx="882727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3717435" y="5553571"/>
            <a:ext cx="687172" cy="258465"/>
          </a:xfrm>
          <a:prstGeom prst="roundRect">
            <a:avLst>
              <a:gd name="adj" fmla="val 47389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819429" y="5604570"/>
            <a:ext cx="1092768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MYSQL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489635" y="5553571"/>
            <a:ext cx="864471" cy="258465"/>
          </a:xfrm>
          <a:prstGeom prst="roundRect">
            <a:avLst>
              <a:gd name="adj" fmla="val 47389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4591630" y="5604570"/>
            <a:ext cx="1270067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POWER BI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5439135" y="5553571"/>
            <a:ext cx="1284355" cy="258465"/>
          </a:xfrm>
          <a:prstGeom prst="roundRect">
            <a:avLst>
              <a:gd name="adj" fmla="val 47389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541129" y="5604570"/>
            <a:ext cx="1689951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CLEANING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808518" y="5553571"/>
            <a:ext cx="486160" cy="258465"/>
          </a:xfrm>
          <a:prstGeom prst="roundRect">
            <a:avLst>
              <a:gd name="adj" fmla="val 47389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910512" y="5604570"/>
            <a:ext cx="891756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EDA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7379706" y="5553571"/>
            <a:ext cx="1603434" cy="258465"/>
          </a:xfrm>
          <a:prstGeom prst="roundRect">
            <a:avLst>
              <a:gd name="adj" fmla="val 47389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481700" y="5604570"/>
            <a:ext cx="2009030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VISUALIZATION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9068168" y="5553571"/>
            <a:ext cx="1645502" cy="258465"/>
          </a:xfrm>
          <a:prstGeom prst="roundRect">
            <a:avLst>
              <a:gd name="adj" fmla="val 47389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170163" y="5604570"/>
            <a:ext cx="2051098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BUSINESS ANALYTICS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661475" y="5897066"/>
            <a:ext cx="1758112" cy="258465"/>
          </a:xfrm>
          <a:prstGeom prst="roundRect">
            <a:avLst>
              <a:gd name="adj" fmla="val 47389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763469" y="5948065"/>
            <a:ext cx="2163708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 ENGINEERING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442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Customer Segmentation Deep Dive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28539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Understanding distinct customer groups is crucial for tailored strategies. We categorized our customer base into three segments: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New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Returning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and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Loyal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each with unique behaviors and retention challenges.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57586"/>
            <a:ext cx="3531901" cy="37178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06877" y="2067024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841156" y="2595166"/>
            <a:ext cx="1328903" cy="243979"/>
          </a:xfrm>
          <a:prstGeom prst="roundRect">
            <a:avLst>
              <a:gd name="adj" fmla="val 47414"/>
            </a:avLst>
          </a:prstGeom>
          <a:solidFill>
            <a:srgbClr val="CEE6FD"/>
          </a:solidFill>
          <a:ln/>
        </p:spPr>
      </p:sp>
      <p:sp>
        <p:nvSpPr>
          <p:cNvPr id="7" name="Text 4"/>
          <p:cNvSpPr/>
          <p:nvPr/>
        </p:nvSpPr>
        <p:spPr>
          <a:xfrm>
            <a:off x="937495" y="2643287"/>
            <a:ext cx="1136225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 CUSTOMERS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41156" y="2893715"/>
            <a:ext cx="31725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7B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83 Customers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1156" y="3226594"/>
            <a:ext cx="3172539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These are first-time purchasers. Our focus is on providing an excellent initial experience to encourage repeat purchases and move them into the Returning segment.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1156" y="4497090"/>
            <a:ext cx="3172539" cy="998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metric: First Purchase to Second Purchase Conversion Rate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Strategy: Onboarding sequences, welcome offers, feedback requests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9897" y="1957586"/>
            <a:ext cx="3531901" cy="3717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75300" y="2067024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4509578" y="2595166"/>
            <a:ext cx="1757815" cy="243979"/>
          </a:xfrm>
          <a:prstGeom prst="roundRect">
            <a:avLst>
              <a:gd name="adj" fmla="val 47414"/>
            </a:avLst>
          </a:prstGeom>
          <a:solidFill>
            <a:srgbClr val="CEE6FD"/>
          </a:solidFill>
          <a:ln/>
        </p:spPr>
      </p:sp>
      <p:sp>
        <p:nvSpPr>
          <p:cNvPr id="14" name="Text 10"/>
          <p:cNvSpPr/>
          <p:nvPr/>
        </p:nvSpPr>
        <p:spPr>
          <a:xfrm>
            <a:off x="4605917" y="2643287"/>
            <a:ext cx="1565137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RETURNING CUSTOMERS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09578" y="2893715"/>
            <a:ext cx="31725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8A745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701 Customers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509578" y="3226594"/>
            <a:ext cx="3172539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Customers who have made at least two purchases. This group shows early signs of engagement and represents a significant opportunity for cultivating loyalty.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09578" y="4259362"/>
            <a:ext cx="3172539" cy="1236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metric: Purchase Frequency, Average Order Value (AOV)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Strategy: Loyalty programs, personalized recommendations, exclusive content</a:t>
            </a:r>
            <a:endParaRPr lang="en-US" sz="12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8319" y="1957586"/>
            <a:ext cx="3531901" cy="371782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43722" y="2067024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850" dirty="0"/>
          </a:p>
        </p:txBody>
      </p:sp>
      <p:sp>
        <p:nvSpPr>
          <p:cNvPr id="20" name="Shape 15"/>
          <p:cNvSpPr/>
          <p:nvPr/>
        </p:nvSpPr>
        <p:spPr>
          <a:xfrm>
            <a:off x="8178000" y="2595166"/>
            <a:ext cx="1420678" cy="243979"/>
          </a:xfrm>
          <a:prstGeom prst="roundRect">
            <a:avLst>
              <a:gd name="adj" fmla="val 47414"/>
            </a:avLst>
          </a:prstGeom>
          <a:solidFill>
            <a:srgbClr val="CEE6FD"/>
          </a:solidFill>
          <a:ln/>
        </p:spPr>
      </p:sp>
      <p:sp>
        <p:nvSpPr>
          <p:cNvPr id="21" name="Text 16"/>
          <p:cNvSpPr/>
          <p:nvPr/>
        </p:nvSpPr>
        <p:spPr>
          <a:xfrm>
            <a:off x="8274339" y="2643287"/>
            <a:ext cx="1228000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LOYAL CUSTOMERS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178000" y="2893715"/>
            <a:ext cx="31725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C107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3,116 Customers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178000" y="3226594"/>
            <a:ext cx="3172539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most valuable customers, characterized by consistent purchases and high engagement. They are vital for long-term revenue and brand advocacy.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178000" y="4259362"/>
            <a:ext cx="3172539" cy="998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metric: Customer Lifetime Value (CLV), Churn Rate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Strategy: VIP treatment, early access to products, referral incentives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61475" y="5829002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By understanding the unique needs and behaviors of each segment, we can develop targeted marketing and retention strategies to maximize customer lifetime value.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291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Discount Strategies &amp; Shipping Trends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99592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Discount Impact on Purchase Behavior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918395"/>
            <a:ext cx="5226911" cy="2206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Analysis indicates that while promotional discounts successfully 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increase purchase frequency by 15%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they concurrently lead to a 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7% reduction in average transaction value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This suggests discounts attract more price-sensitive buyers or encourage smaller, more frequent purchases rather than larger basket sizes.</a:t>
            </a:r>
            <a:endParaRPr lang="en-US" sz="13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Strategic use of discounts should target specific product categories or customer segments to maximize net revenue, rather than broad-stroke promotions.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659" y="1499592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Customer Shipping Preferences</a:t>
            </a:r>
            <a:endParaRPr lang="en-US" sz="1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659" y="1937544"/>
            <a:ext cx="4714261" cy="29909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659" y="5100737"/>
            <a:ext cx="5226911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60% of customers prefer Standard Shipping, showing a strong preference for lower-cost delivery.</a:t>
            </a:r>
            <a:endParaRPr lang="en-US" sz="13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Meanwhile, 30% choose Express and 10% opt for Same-Day Delivery, indicating demand for faster shipping options.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723404"/>
            <a:ext cx="629686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Conclusion &amp; Next Steps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61475" y="1227138"/>
            <a:ext cx="6296860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analysis reveals critical insights into customer behavior and product performance, providing a clear roadmap for strategic growth and enhanced profitability.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1720949"/>
            <a:ext cx="299861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1475" y="1992709"/>
            <a:ext cx="2998613" cy="4114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Male customers contribute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2x more revenue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indicating a need for gender-specific strategies.Male customers generate 2× more revenue.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Non-subscribers present a strong conversion opportunity.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Top-rated, high-demand products drive repeat sales.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Optimize discounts to balance sales and profitability.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segmentation enables targeted marketing.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large non-subscriber base represents a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significant conversion opportunity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subscription growth.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High-rated products and high-demand consumables are key drivers of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repeat purchases and revenue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Discounting increases purchase frequency but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reduces average transaction value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requiring careful optimization.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segmentation into New, Returning, and Loyal groups allows for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tailored engagement strategies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966071" y="1720949"/>
            <a:ext cx="299861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Actionable Next Steps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66071" y="1992709"/>
            <a:ext cx="2998613" cy="2084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Convert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high-value non-subscribers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paid subscriptions.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Convert high-value non-subscribers into paid subscribers.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Strengthen loyalty programs for returning and loyal customers.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Optimize discount strategies to boost profit and sales.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 gender-specific marketing campaigns.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Promote top-rated products and optimize inventory for high-demand items.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2026-07-25T17:11:37Z</dcterms:created>
  <dcterms:modified xsi:type="dcterms:W3CDTF">2026-07-25T17:11:37Z</dcterms:modified>
</cp:coreProperties>
</file>